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1/15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Calibri"/>
              </a:defRPr>
            </a:pPr>
            <a:r>
              <a:t>QGIS +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4FC3F7"/>
                </a:solidFill>
                <a:latin typeface="Calibri"/>
              </a:defRPr>
            </a:pPr>
            <a:r>
              <a:t>Automate Your GIS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840480"/>
            <a:ext cx="2743200" cy="5486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66666"/>
                </a:solidFill>
                <a:latin typeface="Calibri"/>
              </a:defRPr>
            </a:pPr>
            <a:r>
              <a:t>Site Selection Analysis with PyQGIS &amp;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20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From 4,708 buildings to 9 suitable sites — in one command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2/15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❌  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1828800" cy="5486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/>
              <a:t>🕐  </a:t>
            </a:r>
            <a:r>
              <a:rPr sz="2000">
                <a:solidFill>
                  <a:srgbClr val="FFFFFF"/>
                </a:solidFill>
                <a:latin typeface="Calibri"/>
              </a:rPr>
              <a:t>Manual site selection takes 4+ hours</a:t>
            </a:r>
          </a:p>
          <a:p>
            <a:pPr>
              <a:spcAft>
                <a:spcPts val="1200"/>
              </a:spcAft>
            </a:pPr>
            <a:r>
              <a:rPr sz="2400"/>
              <a:t>🔄  </a:t>
            </a:r>
            <a:r>
              <a:rPr sz="2000">
                <a:solidFill>
                  <a:srgbClr val="FFFFFF"/>
                </a:solidFill>
                <a:latin typeface="Calibri"/>
              </a:rPr>
              <a:t>Buffer → Clip → Select → Export → Repeat</a:t>
            </a:r>
          </a:p>
          <a:p>
            <a:pPr>
              <a:spcAft>
                <a:spcPts val="1200"/>
              </a:spcAft>
            </a:pPr>
            <a:r>
              <a:rPr sz="2400"/>
              <a:t>❌  </a:t>
            </a:r>
            <a:r>
              <a:rPr sz="2000">
                <a:solidFill>
                  <a:srgbClr val="FFFFFF"/>
                </a:solidFill>
                <a:latin typeface="Calibri"/>
              </a:rPr>
              <a:t>Error-prone — miss a step, wrong answer</a:t>
            </a:r>
          </a:p>
          <a:p>
            <a:pPr>
              <a:spcAft>
                <a:spcPts val="1200"/>
              </a:spcAft>
            </a:pPr>
            <a:r>
              <a:rPr sz="2400"/>
              <a:t>📋  </a:t>
            </a:r>
            <a:r>
              <a:rPr sz="2000">
                <a:solidFill>
                  <a:srgbClr val="FFFFFF"/>
                </a:solidFill>
                <a:latin typeface="Calibri"/>
              </a:rPr>
              <a:t>Not reproducible — can you redo it next month?</a:t>
            </a:r>
          </a:p>
          <a:p>
            <a:pPr>
              <a:spcAft>
                <a:spcPts val="1200"/>
              </a:spcAft>
            </a:pPr>
            <a:r>
              <a:rPr sz="2400"/>
              <a:t>💰  </a:t>
            </a:r>
            <a:r>
              <a:rPr sz="2000">
                <a:solidFill>
                  <a:srgbClr val="FFFFFF"/>
                </a:solidFill>
                <a:latin typeface="Calibri"/>
              </a:rPr>
              <a:t>Expensive — billable hours for repetitive tasks</a:t>
            </a:r>
          </a:p>
          <a:p>
            <a:pPr>
              <a:spcAft>
                <a:spcPts val="1200"/>
              </a:spcAft>
            </a:pPr>
            <a:r>
              <a:rPr sz="2400"/>
              <a:t>🧠  </a:t>
            </a:r>
            <a:r>
              <a:rPr sz="2000">
                <a:solidFill>
                  <a:srgbClr val="FFFFFF"/>
                </a:solidFill>
                <a:latin typeface="Calibri"/>
              </a:rPr>
              <a:t>Your skill is analysis, not clicking buttons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828800"/>
            <a:ext cx="4754880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201168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FC3F7"/>
                </a:solidFill>
                <a:latin typeface="Calibri"/>
              </a:defRPr>
            </a:pPr>
            <a:r>
              <a:t>🎯  The 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74320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/>
              <a:t>1.  </a:t>
            </a:r>
            <a:r>
              <a:rPr sz="1800">
                <a:solidFill>
                  <a:srgbClr val="FFFFFF"/>
                </a:solidFill>
                <a:latin typeface="Calibri"/>
              </a:rPr>
              <a:t>Area between 800–1,200 m²</a:t>
            </a:r>
          </a:p>
          <a:p>
            <a:pPr>
              <a:spcAft>
                <a:spcPts val="1200"/>
              </a:spcAft>
            </a:pPr>
            <a:r>
              <a:rPr sz="2200"/>
              <a:t>2.  </a:t>
            </a:r>
            <a:r>
              <a:rPr sz="1800">
                <a:solidFill>
                  <a:srgbClr val="FFFFFF"/>
                </a:solidFill>
                <a:latin typeface="Calibri"/>
              </a:rPr>
              <a:t>Within 1 km of a school</a:t>
            </a:r>
          </a:p>
          <a:p>
            <a:pPr>
              <a:spcAft>
                <a:spcPts val="1200"/>
              </a:spcAft>
            </a:pPr>
            <a:r>
              <a:rPr sz="2200"/>
              <a:t>3.  </a:t>
            </a:r>
            <a:r>
              <a:rPr sz="1800">
                <a:solidFill>
                  <a:srgbClr val="FFFFFF"/>
                </a:solidFill>
                <a:latin typeface="Calibri"/>
              </a:rPr>
              <a:t>NOT within 100 m of a highway</a:t>
            </a:r>
          </a:p>
          <a:p>
            <a:pPr>
              <a:spcAft>
                <a:spcPts val="1200"/>
              </a:spcAft>
            </a:pPr>
            <a:r>
              <a:rPr sz="2200"/>
              <a:t>4.  </a:t>
            </a:r>
            <a:r>
              <a:rPr sz="1800">
                <a:solidFill>
                  <a:srgbClr val="FFFFFF"/>
                </a:solidFill>
                <a:latin typeface="Calibri"/>
              </a:rPr>
              <a:t>NOT within 300 m of a river</a:t>
            </a:r>
          </a:p>
          <a:p>
            <a:pPr>
              <a:spcAft>
                <a:spcPts val="1200"/>
              </a:spcAft>
            </a:pPr>
            <a:r>
              <a:rPr sz="2200"/>
              <a:t>5.  </a:t>
            </a:r>
            <a:r>
              <a:rPr sz="1800">
                <a:solidFill>
                  <a:srgbClr val="FFFFFF"/>
                </a:solidFill>
                <a:latin typeface="Calibri"/>
              </a:rPr>
              <a:t>Inside a residential urban zone</a:t>
            </a:r>
          </a:p>
          <a:p>
            <a:pPr>
              <a:spcAft>
                <a:spcPts val="1200"/>
              </a:spcAft>
            </a:pPr>
            <a:r>
              <a:rPr sz="2200"/>
              <a:t>6.  </a:t>
            </a:r>
            <a:r>
              <a:rPr sz="1800">
                <a:solidFill>
                  <a:srgbClr val="FFFFFF"/>
                </a:solidFill>
                <a:latin typeface="Calibri"/>
              </a:rPr>
              <a:t>Calculate population estimate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QGIS + AI Automation Workshop · github.com/your-repo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3/15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✅  The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1828800" cy="54864"/>
          </a:xfrm>
          <a:prstGeom prst="rect">
            <a:avLst/>
          </a:prstGeom>
          <a:solidFill>
            <a:srgbClr val="31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/>
              <a:t>⚡  </a:t>
            </a:r>
            <a:r>
              <a:rPr sz="2000">
                <a:solidFill>
                  <a:srgbClr val="FFFFFF"/>
                </a:solidFill>
                <a:latin typeface="Calibri"/>
              </a:rPr>
              <a:t>QGIS Headless Mode + PyQGIS = Automation</a:t>
            </a:r>
          </a:p>
          <a:p>
            <a:pPr>
              <a:spcAft>
                <a:spcPts val="1200"/>
              </a:spcAft>
            </a:pPr>
            <a:r>
              <a:rPr sz="2400"/>
              <a:t>🔧  </a:t>
            </a:r>
            <a:r>
              <a:rPr sz="2000">
                <a:solidFill>
                  <a:srgbClr val="FFFFFF"/>
                </a:solidFill>
                <a:latin typeface="Calibri"/>
              </a:rPr>
              <a:t>Same algorithms you know — just scripted</a:t>
            </a:r>
          </a:p>
          <a:p>
            <a:pPr>
              <a:spcAft>
                <a:spcPts val="1200"/>
              </a:spcAft>
            </a:pPr>
            <a:r>
              <a:rPr sz="2400"/>
              <a:t>📦  </a:t>
            </a:r>
            <a:r>
              <a:rPr sz="2000">
                <a:solidFill>
                  <a:srgbClr val="FFFFFF"/>
                </a:solidFill>
                <a:latin typeface="Calibri"/>
              </a:rPr>
              <a:t>800+ processing algorithms available</a:t>
            </a:r>
          </a:p>
          <a:p>
            <a:pPr>
              <a:spcAft>
                <a:spcPts val="1200"/>
              </a:spcAft>
            </a:pPr>
            <a:r>
              <a:rPr sz="2400"/>
              <a:t>🔁  </a:t>
            </a:r>
            <a:r>
              <a:rPr sz="2000">
                <a:solidFill>
                  <a:srgbClr val="FFFFFF"/>
                </a:solidFill>
                <a:latin typeface="Calibri"/>
              </a:rPr>
              <a:t>Repeatable · Auditable · Shareable</a:t>
            </a:r>
          </a:p>
          <a:p>
            <a:pPr>
              <a:spcAft>
                <a:spcPts val="1200"/>
              </a:spcAft>
            </a:pPr>
            <a:r>
              <a:rPr sz="2400"/>
              <a:t>🐍  </a:t>
            </a:r>
            <a:r>
              <a:rPr sz="2000">
                <a:solidFill>
                  <a:srgbClr val="FFFFFF"/>
                </a:solidFill>
                <a:latin typeface="Calibri"/>
              </a:rPr>
              <a:t>One Python script replaces hours of clicking</a:t>
            </a:r>
          </a:p>
          <a:p>
            <a:pPr>
              <a:spcAft>
                <a:spcPts val="1200"/>
              </a:spcAft>
            </a:pPr>
            <a:r>
              <a:rPr sz="2400"/>
              <a:t>🌍  </a:t>
            </a:r>
            <a:r>
              <a:rPr sz="2000">
                <a:solidFill>
                  <a:srgbClr val="FFFFFF"/>
                </a:solidFill>
                <a:latin typeface="Calibri"/>
              </a:rPr>
              <a:t>Publish to web dashboard automatically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828800"/>
            <a:ext cx="4754880" cy="41148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201168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1A354"/>
                </a:solidFill>
                <a:latin typeface="Calibri"/>
              </a:defRPr>
            </a:pPr>
            <a:r>
              <a:t>🐍  One Command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74320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1A354"/>
                </a:solidFill>
                <a:latin typeface="Consolas"/>
              </a:defRPr>
            </a:pPr>
            <a:r>
              <a:t>  python3 demo.py</a:t>
            </a:r>
            <a:br/>
            <a:br/>
            <a:r>
              <a:t>  ┌──────────────────────────┐</a:t>
            </a:r>
            <a:br/>
            <a:r>
              <a:t>  │  4,708 buildings         │</a:t>
            </a:r>
            <a:br/>
            <a:r>
              <a:t>  │  → 28  (area filter)     │</a:t>
            </a:r>
            <a:br/>
            <a:r>
              <a:t>  │  → 22  (school zone)     │</a:t>
            </a:r>
            <a:br/>
            <a:r>
              <a:t>  │  → 21  (no highway)      │</a:t>
            </a:r>
            <a:br/>
            <a:r>
              <a:t>  │  →  9  (no river)        │</a:t>
            </a:r>
            <a:br/>
            <a:r>
              <a:t>  │  →  9  (urban zone) ✅   │</a:t>
            </a:r>
            <a:br/>
            <a:r>
              <a:t>  └──────────────────────────┘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QGIS + AI Automation Workshop · github.com/your-repo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4/15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🗂️  The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1828800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011680"/>
            <a:ext cx="2468880" cy="1828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011680"/>
            <a:ext cx="73152" cy="18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286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🏘️  Buildings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74C3C"/>
                </a:solidFill>
                <a:latin typeface="Calibri"/>
              </a:defRPr>
            </a:pPr>
            <a:r>
              <a:t>4,708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383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(Polygon)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2011680"/>
            <a:ext cx="2468880" cy="1828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2011680"/>
            <a:ext cx="73152" cy="1828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2286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🏫  Schools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980B9"/>
                </a:solidFill>
                <a:latin typeface="Calibri"/>
              </a:defRPr>
            </a:pPr>
            <a:r>
              <a:t>4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383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(Polygon)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011680"/>
            <a:ext cx="2468880" cy="1828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2011680"/>
            <a:ext cx="73152" cy="18288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2286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🛣️  Roads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39C12"/>
                </a:solidFill>
                <a:latin typeface="Calibri"/>
              </a:defRPr>
            </a:pPr>
            <a:r>
              <a:t>717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383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(Line)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2011680"/>
            <a:ext cx="2468880" cy="1828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2011680"/>
            <a:ext cx="73152" cy="18288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2286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🌊  Rivers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A085"/>
                </a:solidFill>
                <a:latin typeface="Calibri"/>
              </a:defRPr>
            </a:pPr>
            <a:r>
              <a:t>19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3383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(Line)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4206240"/>
            <a:ext cx="2468880" cy="1828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4206240"/>
            <a:ext cx="73152" cy="18288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4480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🏙️  Urban Zones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120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E44AD"/>
                </a:solidFill>
                <a:latin typeface="Calibri"/>
              </a:defRPr>
            </a:pPr>
            <a:r>
              <a:t>6 features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5577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(Polygon)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0" y="4206240"/>
            <a:ext cx="2468880" cy="1828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0" y="4206240"/>
            <a:ext cx="73152" cy="1828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31920" y="4480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💧  Water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1920" y="5120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498DB"/>
                </a:solidFill>
                <a:latin typeface="Calibri"/>
              </a:defRPr>
            </a:pPr>
            <a:r>
              <a:t>37 features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0" y="5577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(Polygon)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206240"/>
            <a:ext cx="2468880" cy="1828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4206240"/>
            <a:ext cx="73152" cy="1828800"/>
          </a:xfrm>
          <a:prstGeom prst="rect">
            <a:avLst/>
          </a:prstGeom>
          <a:solidFill>
            <a:srgbClr val="E843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4480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🍽️  Restaurants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120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4393"/>
                </a:solidFill>
                <a:latin typeface="Calibri"/>
              </a:defRPr>
            </a:pPr>
            <a:r>
              <a:t>11 features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5577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(Polygon)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📍 Cape Agulhas, South Africa  ·  CRS: EPSG:4326 / EPSG:32733  ·  Dataset: QGIS Training Manual · Data: © OpenStreetMap (ODbL)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6217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QGIS + AI Automation Workshop · github.com/your-repo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5/15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📋  The Selection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1828800" cy="5486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874520"/>
            <a:ext cx="457200" cy="457200"/>
          </a:xfrm>
          <a:prstGeom prst="ellipse">
            <a:avLst/>
          </a:prstGeom>
          <a:solidFill>
            <a:srgbClr val="31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Area 800 – 1,200 m²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148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onsolas"/>
              </a:defRPr>
            </a:pPr>
            <a:r>
              <a:t>Algorithm: native:extractbyexpression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874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2F5"/>
                </a:solidFill>
                <a:latin typeface="Calibri"/>
              </a:defRPr>
            </a:pPr>
            <a:r>
              <a:t>Filter buildings by size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651760"/>
            <a:ext cx="457200" cy="457200"/>
          </a:xfrm>
          <a:prstGeom prst="ellipse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606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Within 1,000 m of school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926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onsolas"/>
              </a:defRPr>
            </a:pPr>
            <a:r>
              <a:t>Algorithm: native:buffer → extractbylocation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651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2F5"/>
                </a:solidFill>
                <a:latin typeface="Calibri"/>
              </a:defRPr>
            </a:pPr>
            <a:r>
              <a:t>Buffer schools, select intersect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429000"/>
            <a:ext cx="457200" cy="4572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NOT within 100 m of highway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703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onsolas"/>
              </a:defRPr>
            </a:pPr>
            <a:r>
              <a:t>Algorithm: native:buffer → extractbylocation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429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2F5"/>
                </a:solidFill>
                <a:latin typeface="Calibri"/>
              </a:defRPr>
            </a:pPr>
            <a:r>
              <a:t>Buffer highways, select disjoint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4206240"/>
            <a:ext cx="457200" cy="4572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160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NOT within 300 m of river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onsolas"/>
              </a:defRPr>
            </a:pPr>
            <a:r>
              <a:t>Algorithm: native:buffer → extractbylocation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2F5"/>
                </a:solidFill>
                <a:latin typeface="Calibri"/>
              </a:defRPr>
            </a:pPr>
            <a:r>
              <a:t>Buffer rivers, select disjoint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4983480"/>
            <a:ext cx="457200" cy="45720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937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Inside urban (residential) zone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257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onsolas"/>
              </a:defRPr>
            </a:pPr>
            <a:r>
              <a:t>Algorithm: native:extractbylocation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983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2F5"/>
                </a:solidFill>
                <a:latin typeface="Calibri"/>
              </a:defRPr>
            </a:pPr>
            <a:r>
              <a:t>Select intersect with urban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5760720"/>
            <a:ext cx="457200" cy="45720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5715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Calculate population estimate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6035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onsolas"/>
              </a:defRPr>
            </a:pPr>
            <a:r>
              <a:t>Algorithm: native:fieldcalculator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760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2F5"/>
                </a:solidFill>
                <a:latin typeface="Calibri"/>
              </a:defRPr>
            </a:pPr>
            <a:r>
              <a:t>Area / 30 = people per building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217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QGIS + AI Automation Workshop · github.com/your-repo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6/15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⚙️  The Processing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914400"/>
            <a:ext cx="1828800" cy="5486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1097280" cy="109728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Load GeoPackage</a:t>
            </a:r>
            <a:br/>
            <a:r>
              <a:t>Layers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463040" y="2743200"/>
            <a:ext cx="109728" cy="182880"/>
          </a:xfrm>
          <a:prstGeom prst="rightArrow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72768" y="2286000"/>
            <a:ext cx="1097280" cy="109728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Reproject</a:t>
            </a:r>
            <a:br/>
            <a:r>
              <a:t>to UTM 33S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70048" y="2743200"/>
            <a:ext cx="109728" cy="182880"/>
          </a:xfrm>
          <a:prstGeom prst="rightArrow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79776" y="2286000"/>
            <a:ext cx="1097280" cy="1097280"/>
          </a:xfrm>
          <a:prstGeom prst="roundRect">
            <a:avLst/>
          </a:prstGeom>
          <a:solidFill>
            <a:srgbClr val="31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Filter by</a:t>
            </a:r>
            <a:br/>
            <a:r>
              <a:t>Area 800-1200m²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877056" y="2743200"/>
            <a:ext cx="109728" cy="182880"/>
          </a:xfrm>
          <a:prstGeom prst="rightArrow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986784" y="2286000"/>
            <a:ext cx="1097280" cy="1097280"/>
          </a:xfrm>
          <a:prstGeom prst="round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Buffer Schools</a:t>
            </a:r>
            <a:br/>
            <a:r>
              <a:t>1,000m → Select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084064" y="2743200"/>
            <a:ext cx="109728" cy="182880"/>
          </a:xfrm>
          <a:prstGeom prst="rightArrow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93792" y="2286000"/>
            <a:ext cx="1097280" cy="10972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Buffer Highways</a:t>
            </a:r>
            <a:br/>
            <a:r>
              <a:t>100m → Exclude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291072" y="2743200"/>
            <a:ext cx="109728" cy="182880"/>
          </a:xfrm>
          <a:prstGeom prst="rightArrow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2286000"/>
            <a:ext cx="1097280" cy="10972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Buffer Rivers</a:t>
            </a:r>
            <a:br/>
            <a:r>
              <a:t>300m → Exclude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98080" y="2743200"/>
            <a:ext cx="109728" cy="182880"/>
          </a:xfrm>
          <a:prstGeom prst="rightArrow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607808" y="2286000"/>
            <a:ext cx="1097280" cy="109728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Clip to</a:t>
            </a:r>
            <a:br/>
            <a:r>
              <a:t>Urban Zones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705088" y="2743200"/>
            <a:ext cx="109728" cy="182880"/>
          </a:xfrm>
          <a:prstGeom prst="rightArrow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14816" y="2286000"/>
            <a:ext cx="1097280" cy="1097280"/>
          </a:xfrm>
          <a:prstGeom prst="roundRect">
            <a:avLst/>
          </a:prstGeom>
          <a:solidFill>
            <a:srgbClr val="31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Calculate</a:t>
            </a:r>
            <a:br/>
            <a:r>
              <a:t>Population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912096" y="2743200"/>
            <a:ext cx="109728" cy="182880"/>
          </a:xfrm>
          <a:prstGeom prst="rightArrow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021824" y="2286000"/>
            <a:ext cx="1097280" cy="1097280"/>
          </a:xfrm>
          <a:prstGeom prst="roundRect">
            <a:avLst/>
          </a:prstGeom>
          <a:solidFill>
            <a:srgbClr val="31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Export</a:t>
            </a:r>
            <a:br/>
            <a:r>
              <a:t>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PyQGIS Processing Algorithms (native:*) — same tools as the QGIS toolbox, automated via Python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4754880"/>
            <a:ext cx="411480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45920" y="4937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📥  Input: 4,708 buildings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5394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7 raw GeoPackage layers</a:t>
            </a:r>
            <a:br/>
            <a:r>
              <a:t>+ satellite imagery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4754880"/>
            <a:ext cx="4114800" cy="1371600"/>
          </a:xfrm>
          <a:prstGeom prst="rect">
            <a:avLst/>
          </a:prstGeom>
          <a:solidFill>
            <a:srgbClr val="31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4937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📤  Output: 9 suitable sites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5394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Interactive dashboard · GeoJSON</a:t>
            </a:r>
            <a:br/>
            <a:r>
              <a:t>PDF report · Population estimate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217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QGIS + AI Automation Workshop · github.com/your-repo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7/15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📊  The Filter Cascade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914400"/>
            <a:ext cx="1828800" cy="5486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Total Buildings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1508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4708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554480"/>
            <a:ext cx="8229600" cy="457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Area 800-1200 m²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2286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331720"/>
            <a:ext cx="457200" cy="457200"/>
          </a:xfrm>
          <a:prstGeom prst="roundRect">
            <a:avLst/>
          </a:prstGeom>
          <a:solidFill>
            <a:srgbClr val="31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63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Within 1 km of School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3063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3108960"/>
            <a:ext cx="457200" cy="457200"/>
          </a:xfrm>
          <a:prstGeom prst="round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40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Not Near Highway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3840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3886200"/>
            <a:ext cx="457200" cy="4572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17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Not Near River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4617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4663440"/>
            <a:ext cx="457200" cy="4572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394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In Urban Zone 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5394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31A354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5440680"/>
            <a:ext cx="457200" cy="457200"/>
          </a:xfrm>
          <a:prstGeom prst="roundRect">
            <a:avLst/>
          </a:prstGeom>
          <a:solidFill>
            <a:srgbClr val="31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QGIS + AI Automation Workshop · github.com/your-repo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8/15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🖥️  The Showcase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914400"/>
            <a:ext cx="1828800" cy="5486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73152" cy="54864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C3F7"/>
                </a:solidFill>
                <a:latin typeface="Calibri"/>
              </a:defRPr>
            </a:pPr>
            <a:r>
              <a:t>📊  Stats Cards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48132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Filtering cascade at a glance — 4,708 → 9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148840"/>
            <a:ext cx="73152" cy="54864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148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C3F7"/>
                </a:solidFill>
                <a:latin typeface="Calibri"/>
              </a:defRPr>
            </a:pPr>
            <a:r>
              <a:t>🗺️  Interactive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6712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Green = suitable sites · Red = highway exclusion · Blue = school zone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834640"/>
            <a:ext cx="73152" cy="54864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834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C3F7"/>
                </a:solidFill>
                <a:latin typeface="Calibri"/>
              </a:defRPr>
            </a:pPr>
            <a:r>
              <a:t>📉  Filter Funnel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85292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Visual bar chart of each selection step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520440"/>
            <a:ext cx="73152" cy="54864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520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C3F7"/>
                </a:solidFill>
                <a:latin typeface="Calibri"/>
              </a:defRPr>
            </a:pPr>
            <a:r>
              <a:t>📋  Data 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53872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Searchable, sortable, paginated site register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206240"/>
            <a:ext cx="73152" cy="54864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206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C3F7"/>
                </a:solidFill>
                <a:latin typeface="Calibri"/>
              </a:defRPr>
            </a:pPr>
            <a:r>
              <a:t>📥  Export CSV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22452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One-click download of the sites register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892040"/>
            <a:ext cx="73152" cy="54864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4892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C3F7"/>
                </a:solidFill>
                <a:latin typeface="Calibri"/>
              </a:defRPr>
            </a:pPr>
            <a:r>
              <a:t>🌐  Export GeoJSON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91032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One-click download for QGIS/PostGIS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5577840"/>
            <a:ext cx="73152" cy="54864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5577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C3F7"/>
                </a:solidFill>
                <a:latin typeface="Calibri"/>
              </a:defRPr>
            </a:pPr>
            <a:r>
              <a:t>📄  Print / PDF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59612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Ctrl+P → Save as PDF — professional report ready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💡  Open phase3_dashboard.html in any browser — no installation needed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217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QGIS + AI Automation Workshop · github.com/your-repo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9/15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🎬  Live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1828800" cy="5486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1A354"/>
                </a:solidFill>
                <a:latin typeface="Consolas"/>
              </a:defRPr>
            </a:pPr>
            <a:r>
              <a:t>python3 demo.py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3474720"/>
            <a:ext cx="4846320" cy="5486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/>
              <a:t>1️⃣  </a:t>
            </a:r>
            <a:r>
              <a:rPr sz="2000">
                <a:solidFill>
                  <a:srgbClr val="FFFFFF"/>
                </a:solidFill>
                <a:latin typeface="Calibri"/>
              </a:rPr>
              <a:t>Open terminal → type python3 demo.py</a:t>
            </a:r>
          </a:p>
          <a:p>
            <a:pPr>
              <a:spcAft>
                <a:spcPts val="1200"/>
              </a:spcAft>
            </a:pPr>
            <a:r>
              <a:rPr sz="2400"/>
              <a:t>2️⃣  </a:t>
            </a:r>
            <a:r>
              <a:rPr sz="2000">
                <a:solidFill>
                  <a:srgbClr val="FFFFFF"/>
                </a:solidFill>
                <a:latin typeface="Calibri"/>
              </a:rPr>
              <a:t>Press Enter → watch all 7 layers load</a:t>
            </a:r>
          </a:p>
          <a:p>
            <a:pPr>
              <a:spcAft>
                <a:spcPts val="1200"/>
              </a:spcAft>
            </a:pPr>
            <a:r>
              <a:rPr sz="2400"/>
              <a:t>3️⃣  </a:t>
            </a:r>
            <a:r>
              <a:rPr sz="2000">
                <a:solidFill>
                  <a:srgbClr val="FFFFFF"/>
                </a:solidFill>
                <a:latin typeface="Calibri"/>
              </a:rPr>
              <a:t>Watch the cascade: 4,708 → 9</a:t>
            </a:r>
          </a:p>
          <a:p>
            <a:pPr>
              <a:spcAft>
                <a:spcPts val="1200"/>
              </a:spcAft>
            </a:pPr>
            <a:r>
              <a:rPr sz="2400"/>
              <a:t>4️⃣  </a:t>
            </a:r>
            <a:r>
              <a:rPr sz="2000">
                <a:solidFill>
                  <a:srgbClr val="FFFFFF"/>
                </a:solidFill>
                <a:latin typeface="Calibri"/>
              </a:rPr>
              <a:t>Dashboard opens automatically in browser</a:t>
            </a:r>
          </a:p>
          <a:p>
            <a:pPr>
              <a:spcAft>
                <a:spcPts val="1200"/>
              </a:spcAft>
            </a:pPr>
            <a:r>
              <a:rPr sz="2400"/>
              <a:t>5️⃣  </a:t>
            </a:r>
            <a:r>
              <a:rPr sz="2000">
                <a:solidFill>
                  <a:srgbClr val="FFFFFF"/>
                </a:solidFill>
                <a:latin typeface="Calibri"/>
              </a:rPr>
              <a:t>Explore data table, export options, PDF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QGIS + AI Automation Workshop · github.com/your-repo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10/15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🐍  How It Works — PyQGIS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914400"/>
            <a:ext cx="1828800" cy="5486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Same QGIS toolbox tools — automated in 10 lines of Python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011680"/>
            <a:ext cx="10332720" cy="41148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286000"/>
            <a:ext cx="9784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1A354"/>
                </a:solidFill>
                <a:latin typeface="Consolas"/>
              </a:defRPr>
            </a:pPr>
            <a:r>
              <a:t>  # 1. Reproject to UTM 33S for meter-based analysis</a:t>
            </a:r>
            <a:br/>
            <a:r>
              <a:t>  buildings_utm = processing.run("native:reprojectlayer", {</a:t>
            </a:r>
            <a:br/>
            <a:r>
              <a:t>      'INPUT': buildings, 'TARGET_CRS': crs_utm</a:t>
            </a:r>
            <a:br/>
            <a:r>
              <a:t>  })['OUTPUT']</a:t>
            </a:r>
            <a:br/>
            <a:br/>
            <a:r>
              <a:t>  # 2. Filter buildings by area</a:t>
            </a:r>
            <a:br/>
            <a:r>
              <a:t>  suitable = processing.run("native:extractbyexpression", {</a:t>
            </a:r>
            <a:br/>
            <a:r>
              <a:t>      'INPUT': buildings_utm,</a:t>
            </a:r>
            <a:br/>
            <a:r>
              <a:t>      'EXPRESSION': '"area_sqm" &gt;= 800 AND "area_sqm" &lt;= 1200'</a:t>
            </a:r>
            <a:br/>
            <a:r>
              <a:t>  })['OUTPUT']</a:t>
            </a:r>
            <a:br/>
            <a:br/>
            <a:r>
              <a:t>  # 3. Buffer schools 1000m, select within</a:t>
            </a:r>
            <a:br/>
            <a:r>
              <a:t>  school_zone = processing.run("native:buffer", {</a:t>
            </a:r>
            <a:br/>
            <a:r>
              <a:t>      'INPUT': schools, 'DISTANCE': 1000</a:t>
            </a:r>
            <a:br/>
            <a:r>
              <a:t>  })['OUTPUT']</a:t>
            </a:r>
            <a:br/>
            <a:br/>
            <a:r>
              <a:t>  result = processing.run("native:extractbylocation", {</a:t>
            </a:r>
            <a:br/>
            <a:r>
              <a:t>      'INPUT': suitable, 'PREDICATE': [0], 'INTERSECT': school_zone</a:t>
            </a:r>
            <a:br/>
            <a:r>
              <a:t>  })['OUTPUT']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QGIS + AI Automation Workshop · github.com/your-repo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11/15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🏗️  Production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914400"/>
            <a:ext cx="1828800" cy="5486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2286000" cy="137160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PyQGIS</a:t>
            </a:r>
            <a:br/>
            <a:r>
              <a:t>Script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17520" y="2743200"/>
            <a:ext cx="548640" cy="274320"/>
          </a:xfrm>
          <a:prstGeom prst="rightArrow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66160" y="2286000"/>
            <a:ext cx="2286000" cy="13716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PostgreSQL</a:t>
            </a:r>
            <a:br/>
            <a:r>
              <a:t>+ PostGIS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852160" y="2743200"/>
            <a:ext cx="548640" cy="274320"/>
          </a:xfrm>
          <a:prstGeom prst="rightArrow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2286000"/>
            <a:ext cx="2286000" cy="13716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GeoServer</a:t>
            </a:r>
            <a:br/>
            <a:r>
              <a:t>WMS / WFS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686800" y="2743200"/>
            <a:ext cx="548640" cy="274320"/>
          </a:xfrm>
          <a:prstGeom prst="rightArrow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235440" y="2286000"/>
            <a:ext cx="2286000" cy="1371600"/>
          </a:xfrm>
          <a:prstGeom prst="roundRect">
            <a:avLst/>
          </a:prstGeom>
          <a:solidFill>
            <a:srgbClr val="31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Leaflet</a:t>
            </a:r>
            <a:br/>
            <a:r>
              <a:t>Web Map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389120"/>
            <a:ext cx="1033272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572000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C3F7"/>
                </a:solidFill>
                <a:latin typeface="Calibri"/>
              </a:defRPr>
            </a:pPr>
            <a:r>
              <a:t>✨  Benefits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029200"/>
            <a:ext cx="9784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/>
              <a:t>🔄  </a:t>
            </a:r>
            <a:r>
              <a:rPr sz="1600">
                <a:solidFill>
                  <a:srgbClr val="FFFFFF"/>
                </a:solidFill>
                <a:latin typeface="Calibri"/>
              </a:rPr>
              <a:t>Scheduled re-analysis — cron / GitHub Actions</a:t>
            </a:r>
          </a:p>
          <a:p>
            <a:pPr>
              <a:spcAft>
                <a:spcPts val="1200"/>
              </a:spcAft>
            </a:pPr>
            <a:r>
              <a:rPr sz="2000"/>
              <a:t>🌐  </a:t>
            </a:r>
            <a:r>
              <a:rPr sz="1600">
                <a:solidFill>
                  <a:srgbClr val="FFFFFF"/>
                </a:solidFill>
                <a:latin typeface="Calibri"/>
              </a:rPr>
              <a:t>Web services — REST API, tile caching</a:t>
            </a:r>
          </a:p>
          <a:p>
            <a:pPr>
              <a:spcAft>
                <a:spcPts val="1200"/>
              </a:spcAft>
            </a:pPr>
            <a:r>
              <a:rPr sz="2000"/>
              <a:t>👥  </a:t>
            </a:r>
            <a:r>
              <a:rPr sz="1600">
                <a:solidFill>
                  <a:srgbClr val="FFFFFF"/>
                </a:solidFill>
                <a:latin typeface="Calibri"/>
              </a:rPr>
              <a:t>User permissions — role-based access</a:t>
            </a:r>
          </a:p>
          <a:p>
            <a:pPr>
              <a:spcAft>
                <a:spcPts val="1200"/>
              </a:spcAft>
            </a:pPr>
            <a:r>
              <a:rPr sz="2000"/>
              <a:t>📱  </a:t>
            </a:r>
            <a:r>
              <a:rPr sz="1600">
                <a:solidFill>
                  <a:srgbClr val="FFFFFF"/>
                </a:solidFill>
                <a:latin typeface="Calibri"/>
              </a:rPr>
              <a:t>Access from any device — desktop, tablet, phone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217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QGIS + AI Automation Workshop · github.com/your-repo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12/15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🌍  Use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914400"/>
            <a:ext cx="1828800" cy="5486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30352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C3F7"/>
                </a:solidFill>
                <a:latin typeface="Calibri"/>
              </a:defRPr>
            </a:pPr>
            <a:r>
              <a:t>🏪  Retail Site Selection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Find optimal store locations based on demographics, competitor proximity, traffic patterns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463040"/>
            <a:ext cx="530352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C3F7"/>
                </a:solidFill>
                <a:latin typeface="Calibri"/>
              </a:defRPr>
            </a:pPr>
            <a:r>
              <a:t>🏥  Healthcare Facility Placement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945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Identify underserved areas for clinics, hospitals, and emergency services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108960"/>
            <a:ext cx="530352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2918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C3F7"/>
                </a:solidFill>
                <a:latin typeface="Calibri"/>
              </a:defRPr>
            </a:pPr>
            <a:r>
              <a:t>🌳  Conservation Reserve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8404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Design protected areas using ecological criteria, connectivity, and land use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108960"/>
            <a:ext cx="530352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2918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C3F7"/>
                </a:solidFill>
                <a:latin typeface="Calibri"/>
              </a:defRPr>
            </a:pPr>
            <a:r>
              <a:t>🚒  Emergency Response Planning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8404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Locate fire stations, evacuation centers, and supply depots for disaster readiness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754880"/>
            <a:ext cx="530352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937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C3F7"/>
                </a:solidFill>
                <a:latin typeface="Calibri"/>
              </a:defRPr>
            </a:pPr>
            <a:r>
              <a:t>🏘️  Urban Development Zoning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4864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Evaluate parcels for rezoning, density changes, and mixed-use development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754880"/>
            <a:ext cx="530352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937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C3F7"/>
                </a:solidFill>
                <a:latin typeface="Calibri"/>
              </a:defRPr>
            </a:pPr>
            <a:r>
              <a:t>📡  Telecom Tower Placement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54864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Optimize coverage by analyzing terrain, population density, and existing infrastructure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QGIS + AI Automation Workshop · github.com/your-repo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13/15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💡  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914400"/>
            <a:ext cx="1828800" cy="5486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73152" cy="54864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508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⚡  QGIS + Python replaces hours of clicking — one command, 25 seconds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240280"/>
            <a:ext cx="73152" cy="54864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286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🔧  PyQGIS gives you access to 800+ processing algorithms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017520"/>
            <a:ext cx="73152" cy="54864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063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♻️  Same workflow for ANY site selection problem — retail, conservation, emergency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794760"/>
            <a:ext cx="73152" cy="54864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📈  From local script → PostgreSQL → GeoServer → public web map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572000"/>
            <a:ext cx="73152" cy="54864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617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💰  100% open source — QGIS, Python, Folium, PostgreSQL — no license fees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349240"/>
            <a:ext cx="73152" cy="54864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394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🌍  Perfect for low-resource regions where ArcGIS is unaffordable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217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QGIS + AI Automation Workshop · github.com/your-repo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14/15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📚  Resources &amp;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914400"/>
            <a:ext cx="1828800" cy="5486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280160"/>
            <a:ext cx="73152" cy="54864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29844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📄  Download the code: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29844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FC3F7"/>
                </a:solidFill>
                <a:latin typeface="Calibri"/>
              </a:defRPr>
            </a:pPr>
            <a:r>
              <a:t>github.com/saltcotraining-geoai/qgis-ai-site-selection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057400"/>
            <a:ext cx="73152" cy="54864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0756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📺  Watch the demo video: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07568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FC3F7"/>
                </a:solidFill>
                <a:latin typeface="Calibri"/>
              </a:defRPr>
            </a:pPr>
            <a:r>
              <a:t>youtube.com/@Saltco_GeoTraining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834640"/>
            <a:ext cx="73152" cy="54864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8529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📖  QGIS PyQGIS Documentation: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85292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FC3F7"/>
                </a:solidFill>
                <a:latin typeface="Calibri"/>
              </a:defRPr>
            </a:pPr>
            <a:r>
              <a:t>qgis.org/pyqgis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611880"/>
            <a:ext cx="73152" cy="54864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6301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📦  Processing Algorithms Reference: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63016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FC3F7"/>
                </a:solidFill>
                <a:latin typeface="Calibri"/>
              </a:defRPr>
            </a:pPr>
            <a:r>
              <a:t>docs.qgis.org/latest/en/docs/user_manual/processing_algs.html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389120"/>
            <a:ext cx="73152" cy="54864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4074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🐘  PostGIS Documentation: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40740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FC3F7"/>
                </a:solidFill>
                <a:latin typeface="Calibri"/>
              </a:defRPr>
            </a:pPr>
            <a:r>
              <a:t>postgis.net/documentation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5166360"/>
            <a:ext cx="73152" cy="54864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518464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🌐  GeoServer: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518464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FC3F7"/>
                </a:solidFill>
                <a:latin typeface="Calibri"/>
              </a:defRPr>
            </a:pPr>
            <a:r>
              <a:t>geoserver.org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5943600"/>
            <a:ext cx="73152" cy="54864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59618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📚  Dataset: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596188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FC3F7"/>
                </a:solidFill>
                <a:latin typeface="Calibri"/>
              </a:defRPr>
            </a:pPr>
            <a:r>
              <a:t>QGIS Training Manual (CC-BY-SA) + OpenStreetMap (ODbL)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📺  Subscribe for more QGIS + AI automation workflows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217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QGIS + AI Automation Workshop · github.com/your-repo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15/15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00400"/>
            <a:ext cx="2103120" cy="5486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4FC3F7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"The best GIS analyst is the one who automates their workflow."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